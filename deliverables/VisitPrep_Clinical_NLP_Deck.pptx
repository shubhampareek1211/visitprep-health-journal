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myself and the project. This is my individual proof of concept, VisitPrep, built for Topic 1 on clinical natural language technology. It runs entirely locally with deterministic, source-grounded processing.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Clinical NLP spans five layers: NLP, OCR, computer vision, large language models, and large multimodal models. My project works in the first layer but is built so the others can be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field moved from transparent but brittle rule-based systems, to accurate but opaque transformer models, toward a governed, hybrid future. VisitPrep is a small instance of that hybrid, provenance-first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trends: generation over extraction, multimodal convergence, provenance as a requirement, hybrid architectures in regulated settings, and privacy-preserving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running app. The pipeline goes from an unstructured note to structured signals to analytics to a doctor-ready summary. Everything runs locally and is traceable to the source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journal view makes the raw evidence browsable: each note with its extracted, severity-coded symptom chips and injection markers.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with the auditable extraction kept fully separate from the UI. The report is built from computed data, never from live UI state, so an export is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Extraction is seven deterministic steps. The hard part is assertion detection — negation is clause-aware, so 'No vomiting since breakfast, but I vomited after lunch' is correctly read as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 aggregates the extracted signals into frequencies, distributions, and wearable trends — all computed deterministically, then charted with the clinical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doctor report is assembled deterministically. Evidence notes are chosen by a scoring algorithm that favors signal-rich, injection-adjacent days and diverse symptoms, and each is shown verbatim with the matched phrase highlighted.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synthetic evaluation set the pipeline scores perfectly on precision, recall, and F1, with strong severity accuracy and full evidence-span coverage. I want to be honest: this is a curated synthetic set the rules were tuned against, so it shows correctness, not generalization.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close: the project shows that a deterministic, provenance-first system can deliver the full clinical-NLP value chain, auditable end to end. The roadmap adds neural recall behind the same interfaces without giving up the audit trail — and it stays inside clear safety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28A7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9F6F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CLINICAL NATURAL LANGUAGE TECHNOLOGY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</a:t>
            </a:r>
            <a:pPr algn="l" indent="0" marL="0">
              <a:lnSpc>
                <a:spcPct val="103000"/>
              </a:lnSpc>
              <a:buNone/>
            </a:pPr>
            <a:r>
              <a:rPr lang="en-US" sz="3800" b="1" dirty="0">
                <a:solidFill>
                  <a:srgbClr val="D7ECE8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 —  A Clinical Natural Language Technology Proof of Concept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E9F6F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Past, Present &amp; Future  ·  NLP · OCR · Computer Vision · LLM · LMM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526280"/>
            <a:ext cx="4754880" cy="0"/>
          </a:xfrm>
          <a:prstGeom prst="line">
            <a:avLst/>
          </a:prstGeom>
          <a:noFill/>
          <a:ln w="19050">
            <a:solidFill>
              <a:srgbClr val="128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800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Shubham Pareek</a:t>
            </a:r>
            <a:pPr algn="l" indent="0" marL="0">
              <a:buNone/>
            </a:pPr>
            <a:r>
              <a:rPr lang="en-US" sz="1600" dirty="0">
                <a:solidFill>
                  <a:srgbClr val="CFE4E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 —  Columbia University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2303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9D6D1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Intern Assessment  ·  Topic 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EC4B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local, source-grounded, provenance-first application  ·  deterministic on-device processing  ·  synthetic data only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CLINICAL NLP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Five capability layers, turning text into computable data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~80% </a:t>
            </a:r>
            <a:pPr indent="0" marL="0">
              <a:buNone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 clinical data is unstructured text — notes, patient narratives, discharge summaries, scanned documents. Clinical NLP makes it computable.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2021373" cy="34290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560320"/>
            <a:ext cx="457200" cy="457200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165561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NLP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65561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Parse free text into concepts, assertions (present / absent / uncertain) and relations. The foundation.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862621" y="2286000"/>
            <a:ext cx="2021373" cy="34290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091221" y="2560320"/>
            <a:ext cx="457200" cy="457200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15" name="Text 13"/>
          <p:cNvSpPr/>
          <p:nvPr/>
        </p:nvSpPr>
        <p:spPr>
          <a:xfrm>
            <a:off x="3091221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45501" y="3154680"/>
            <a:ext cx="165561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OCR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045501" y="3886200"/>
            <a:ext cx="165561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Convert scanned faxes, PDFs and handwritten or printed documents into machine-readable text.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85161" y="2286000"/>
            <a:ext cx="2021373" cy="34290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13761" y="2560320"/>
            <a:ext cx="457200" cy="457200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20" name="Text 18"/>
          <p:cNvSpPr/>
          <p:nvPr/>
        </p:nvSpPr>
        <p:spPr>
          <a:xfrm>
            <a:off x="5313761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68041" y="3154680"/>
            <a:ext cx="165561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Computer Vision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68041" y="3886200"/>
            <a:ext cx="165561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signal from medical images and document layout — tables, fields, stamps, signatures.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07702" y="2286000"/>
            <a:ext cx="2021373" cy="34290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536302" y="2560320"/>
            <a:ext cx="457200" cy="457200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25" name="Text 23"/>
          <p:cNvSpPr/>
          <p:nvPr/>
        </p:nvSpPr>
        <p:spPr>
          <a:xfrm>
            <a:off x="7536302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90582" y="3154680"/>
            <a:ext cx="165561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LLM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90582" y="3886200"/>
            <a:ext cx="165561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Transformer models (BERT → GPT-4 class) that summarize and reason with less task engineering.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30243" y="2286000"/>
            <a:ext cx="2021373" cy="3429000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758843" y="2560320"/>
            <a:ext cx="457200" cy="457200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30" name="Text 28"/>
          <p:cNvSpPr/>
          <p:nvPr/>
        </p:nvSpPr>
        <p:spPr>
          <a:xfrm>
            <a:off x="9758843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13123" y="3154680"/>
            <a:ext cx="165561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LMM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713123" y="3886200"/>
            <a:ext cx="165561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Large multimodal models reasoning jointly over text + images + structured data — the frontier.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A49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operates in the NLP layer, with typed interfaces designed so the others can be layered in.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Past → Present → Future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3423818" cy="3977640"/>
          </a:xfrm>
          <a:prstGeom prst="roundRect">
            <a:avLst>
              <a:gd name="adj" fmla="val 2137"/>
            </a:avLst>
          </a:prstGeom>
          <a:solidFill>
            <a:srgbClr val="EEF1F2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2267712"/>
            <a:ext cx="2911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PAST · ~2000–2015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2633472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Rule-based &amp; statistical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4290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UMLS dictionary / ontology lookup — MetaMap, cTAKES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Hand-built rules, regex, negation (NegEx), assertions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Shared tasks: i2b2 / n2c2 challenges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6112" y="5166360"/>
            <a:ext cx="29117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Transparent, auditable, cheap — but brittle to phrasing.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3938" y="2011680"/>
            <a:ext cx="3423818" cy="3977640"/>
          </a:xfrm>
          <a:prstGeom prst="roundRect">
            <a:avLst>
              <a:gd name="adj" fmla="val 2137"/>
            </a:avLst>
          </a:prstGeom>
          <a:solidFill>
            <a:srgbClr val="E9F6F3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39970" y="2267712"/>
            <a:ext cx="2911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PRESENT · ~2018–now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39970" y="2633472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Transformer era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39970" y="34290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BERT → BioBERT, ClinicalBERT (on MIMIC-III)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Generative LLMs; Med-PaLM passes medical QA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Vision: CheXNet; document AI fuses OCR + layout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39970" y="5166360"/>
            <a:ext cx="29117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State-of-the-art — but hallucination, opacity, PHI risk.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27797" y="2011680"/>
            <a:ext cx="3423818" cy="3977640"/>
          </a:xfrm>
          <a:prstGeom prst="roundRect">
            <a:avLst>
              <a:gd name="adj" fmla="val 2137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83829" y="2267712"/>
            <a:ext cx="2911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8A78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83829" y="2633472"/>
            <a:ext cx="29117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Multimodal, agentic, governed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83829" y="34290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LMMs over notes + images + labs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Retrieval-grounded / agentic pipelines that cite spans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Hybrid deterministic + neural, governance-first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83829" y="5166360"/>
            <a:ext cx="29117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Neural recall with deterministic guardrails — the pattern this project follows.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082186" y="372618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826045" y="3726180"/>
            <a:ext cx="283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TRENDS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Where clinical NLP is heading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185416"/>
            <a:ext cx="566928" cy="566928"/>
          </a:xfrm>
          <a:prstGeom prst="ellipse">
            <a:avLst/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185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00200" y="21122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extraction to generation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47802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Value shifts from tagging concepts to summarizing and drafting — ambient scribes and narratives.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2185416"/>
            <a:ext cx="566928" cy="566928"/>
          </a:xfrm>
          <a:prstGeom prst="ellipse">
            <a:avLst/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10528" y="2185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269480" y="21122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Multimodal + document AI converge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69480" y="247802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OCR + CV + NLP merge into one document-understanding stack for the fax / PDF reality of healthcare.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00984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3520440"/>
            <a:ext cx="566928" cy="566928"/>
          </a:xfrm>
          <a:prstGeom prst="ellipse">
            <a:avLst/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3520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00200" y="3447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Grounding &amp; provenance are required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00200" y="38130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Clinicians and auditors demand source-linked evidence; ungrounded generation is a liability.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300984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10528" y="3520440"/>
            <a:ext cx="566928" cy="566928"/>
          </a:xfrm>
          <a:prstGeom prst="ellipse">
            <a:avLst/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3520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269480" y="3447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Hybrid architectures win in regulated settings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38130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guardrails wrap neural models to keep outputs auditable and safe.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36008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41248" y="4855464"/>
            <a:ext cx="566928" cy="566928"/>
          </a:xfrm>
          <a:prstGeom prst="ellipse">
            <a:avLst/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" y="4855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600200" y="47823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Privacy-preserving / on-device deployment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600200" y="514807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De-identification and local models become table stakes wherever PHI is involved.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PROJECT · VISITPREP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clinical-NLP value chain, end to end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local Next.js / TypeScript app. A patient on GLP-1 injections logs daily notes and wearable metrics; VisitPrep prepares a source-grounded pre-visit summary.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3063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07008" y="306324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Unstructured note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308860" y="36118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↓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3886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07008" y="3886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signals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308860" y="44348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↓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709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07008" y="470916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Trend analytics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308860" y="525780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↓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53212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0E7466"/>
          </a:solidFill>
          <a:ln w="12700">
            <a:solidFill>
              <a:srgbClr val="0E7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E9E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07008" y="553212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Doctor-ready summary</a:t>
            </a:r>
            <a:endParaRPr lang="en-US" sz="1350" dirty="0"/>
          </a:p>
        </p:txBody>
      </p:sp>
      <p:pic>
        <p:nvPicPr>
          <p:cNvPr id="23" name="Image 0" descr="/Users/shubhampareek/Documents/Cotivit/docs/screenshots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783080"/>
            <a:ext cx="6949440" cy="43434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572000" y="1783080"/>
            <a:ext cx="6949440" cy="4343400"/>
          </a:xfrm>
          <a:prstGeom prst="rect">
            <a:avLst/>
          </a:prstGeom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572000" y="6199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Overview — journal capture with local signal extraction, KPIs, and a persistent safety boundary.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CAPTURING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note, its extracted signals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03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patient note is shown with the symptom signals extracted from it.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Signals are color-coded by severity (mild → severe).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Injection days and “severe reported” days are flagged inline.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chip traces back to a phrase in the note — nothing is inferred without a source.</a:t>
            </a:r>
            <a:endParaRPr lang="en-US" sz="1300" dirty="0"/>
          </a:p>
        </p:txBody>
      </p:sp>
      <p:pic>
        <p:nvPicPr>
          <p:cNvPr id="8" name="Image 0" descr="/Users/shubhampareek/Documents/Cotivit/docs/screenshots/jou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7830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0" y="1783080"/>
            <a:ext cx="6949440" cy="4343400"/>
          </a:xfrm>
          <a:prstGeom prst="rect">
            <a:avLst/>
          </a:prstGeom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0" y="6199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Journal — a per-note timeline of extracted symptom signals.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layers — auditable NLP separated from presentation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13969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A4942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2139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423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typed · synthetic · no PHI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92240" y="2048256"/>
            <a:ext cx="4876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Typed JournalEntry + WearableMetrics; synthetic JSON (no PHI). Wearable data kept separate from journal text.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980944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32004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E7466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30998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49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NLP extraction layer  ·  src/lib/nlp/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34838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extractionMethod: "rule-based" — interface allows semantic-local / hybrid later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76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Deterministic, rule-based, auditable: 14 symptoms / 7 categories; assertion (present · absent · uncertain · resolved); severity; temporal + injection context; evidence span + confidence on every signal.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041648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426110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A4942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Analytics layer  ·  src/lib/analytics/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54480" y="4544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analytics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92240" y="4169664"/>
            <a:ext cx="4876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Symptom frequency, top symptoms, category mix, severity distribution, injection-adjacent analysis, wearable trends (weight, sleep, steps, RHR, activity).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102352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53218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A4942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554480" y="52212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Report layer  ·  src/lib/report/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554480" y="56052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from computed data, never live UI state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92240" y="5230368"/>
            <a:ext cx="48764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 summary: snapshot, medication context, symptom &amp; wearable highlights, evidence notes with source text, discussion prompts, safety disclaimer.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1722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49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Hybrid-ready, provenance-first.  </a:t>
            </a:r>
            <a:pPr indent="0" marL="0">
              <a:buNone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Neural methods can be layered in behind the same typed interfaces without losing the audit trail.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INSIDE THE NLP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Seven deterministic steps, each traceable to source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57400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19933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Sentence spanning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3134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Split the note into spans that keep absolute character offsets.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25496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008376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294436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Dictionary matching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2644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symptoms / 7 categories, weighted aliases, word-boundary aware.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E9F6F3"/>
          </a:solidFill>
          <a:ln w="12700">
            <a:solidFill>
              <a:srgbClr val="0E7466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59352"/>
            <a:ext cx="475488" cy="475488"/>
          </a:xfrm>
          <a:prstGeom prst="ellipse">
            <a:avLst/>
          </a:prstGeom>
          <a:solidFill>
            <a:srgbClr val="0E746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63040" y="3895344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49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Assertion detection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421538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present / absent / uncertain / resolved — clause-aware negation.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727448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910328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103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63040" y="484632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Severity detection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51663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mild / moderate / severe from phrases; self-rating fallback.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1874520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92240" y="2057400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132320" y="19933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Temporal + injection 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32320" y="23134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Time-of-day tags; symptom within ~48h of an injection.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2825496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92240" y="3008376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32320" y="294436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Evidence span + confidence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32320" y="32644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Exact source span, matched text, and a score on every signal.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09360" y="3776472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92240" y="3959352"/>
            <a:ext cx="475488" cy="475488"/>
          </a:xfrm>
          <a:prstGeom prst="ellipse">
            <a:avLst/>
          </a:prstGeom>
          <a:solidFill>
            <a:srgbClr val="0A4942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132320" y="3895344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Deduplicate &amp; rank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32320" y="421538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Best candidate per symptom; a present mention beats a negated one.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4727448"/>
            <a:ext cx="5349240" cy="841248"/>
          </a:xfrm>
          <a:prstGeom prst="roundRect">
            <a:avLst>
              <a:gd name="adj" fmla="val 8696"/>
            </a:avLst>
          </a:prstGeom>
          <a:solidFill>
            <a:srgbClr val="F5F7F7"/>
          </a:solidFill>
          <a:ln w="12700">
            <a:solidFill>
              <a:srgbClr val="DCE1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4837176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49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Hardening: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word-boundary negation, contraction handling, clause-aware scope, assertion-aware ranking.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trends from the extracted signals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Symptom frequency and category mix across the review window.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Weight, sleep, resting heart rate, steps and active minutes.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Week-1 vs week-4 averages for each wearable metric.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symptom-severity timeline; injection-adjacent symptom breakdown.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Charts mapped to the clinical design tokens — restrained, not decorative.</a:t>
            </a:r>
            <a:endParaRPr lang="en-US" sz="1250" dirty="0"/>
          </a:p>
        </p:txBody>
      </p:sp>
      <p:pic>
        <p:nvPicPr>
          <p:cNvPr id="8" name="Image 0" descr="/Users/shubhampareek/Documents/Cotivit/docs/screenshot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7830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0" y="1783080"/>
            <a:ext cx="6949440" cy="4343400"/>
          </a:xfrm>
          <a:prstGeom prst="rect">
            <a:avLst/>
          </a:prstGeom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0" y="6199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Analytics — frequency, wearable trends, and a severity timeline.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DOCTOR-READY OUTPUT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source-grounded summary — every claim traces to a note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Snapshot, GLP-1 medication context, and injection-adjacency.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Wearable telemetry summary and discussion prompts.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Evidence notes selected by a transparent scoring algorithm.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note shown verbatim with the matched phrase highlighted.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safety disclaimer is always included; language stays hedged.</a:t>
            </a:r>
            <a:endParaRPr lang="en-US" sz="1250" dirty="0"/>
          </a:p>
        </p:txBody>
      </p:sp>
      <p:pic>
        <p:nvPicPr>
          <p:cNvPr id="8" name="Image 0" descr="/Users/shubhampareek/Documents/Cotivit/docs/screenshots/doctor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7830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0" y="1783080"/>
            <a:ext cx="6949440" cy="4343400"/>
          </a:xfrm>
          <a:prstGeom prst="rect">
            <a:avLst/>
          </a:prstGeom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0" y="6199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Doctor Report — traceable evidence with the matched phrase highlighted.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RESULTS &amp;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51A1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Evaluation metrics &amp; NLP hardening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VisitPrep · A clinical NLP proof of concept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9441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1.00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85800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9149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9149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1.00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534869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Recall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8218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38218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1.00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383938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7288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87288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0.94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233008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Severity acc.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36357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36357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1.00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082077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Evidence span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885426" y="1874520"/>
            <a:ext cx="1666189" cy="1234440"/>
          </a:xfrm>
          <a:prstGeom prst="roundRect">
            <a:avLst>
              <a:gd name="adj" fmla="val 5926"/>
            </a:avLst>
          </a:prstGeom>
          <a:solidFill>
            <a:srgbClr val="E9F6F3"/>
          </a:solidFill>
          <a:ln w="12700">
            <a:solidFill>
              <a:srgbClr val="E9F6F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885426" y="2020824"/>
            <a:ext cx="166618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9931146" y="2715768"/>
            <a:ext cx="15747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Negation FP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16382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A757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npm run nlp:evaluate  ·  150 synthetic entries / 156 signals  ·  injection-context accuracy 1.00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3703320"/>
            <a:ext cx="72237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1E3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390448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6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NLP ROBUSTNESS HARDENING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270248"/>
            <a:ext cx="6675120" cy="0"/>
          </a:xfrm>
          <a:prstGeom prst="line">
            <a:avLst/>
          </a:prstGeom>
          <a:noFill/>
          <a:ln w="12700">
            <a:solidFill>
              <a:srgbClr val="DCE1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4416552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Fixed substring-negation bug — “no”/“not” no longer fire inside words like “normal”/“nothing”.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Added negation contractions (“don’t have”, “isn’t”) that were previously missed.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Made negation lookback clause-aware (stops at but / however / , / ;).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Made candidate ranking assertion-aware so a present mention beats an earlier negated one.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Tightened over-broad dictionary aliases that caused false positives.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83880" y="3703320"/>
            <a:ext cx="3367735" cy="2423160"/>
          </a:xfrm>
          <a:prstGeom prst="roundRect">
            <a:avLst>
              <a:gd name="adj" fmla="val 3019"/>
            </a:avLst>
          </a:prstGeom>
          <a:solidFill>
            <a:srgbClr val="FDF4E4"/>
          </a:solidFill>
          <a:ln w="12700">
            <a:solidFill>
              <a:srgbClr val="FDF4E4"/>
            </a:solidFill>
            <a:prstDash val="solid"/>
          </a:ln>
          <a:effectLst>
            <a:outerShdw sx="100000" sy="100000" kx="0" ky="0" algn="bl" rotWithShape="0" blurRad="88900" dist="38100" dir="5400000">
              <a:srgbClr val="9aa5aa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39912" y="3904488"/>
            <a:ext cx="285567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0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HONESTY CAVEAT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439912" y="4270248"/>
            <a:ext cx="2855671" cy="0"/>
          </a:xfrm>
          <a:prstGeom prst="line">
            <a:avLst/>
          </a:prstGeom>
          <a:noFill/>
          <a:ln w="12700">
            <a:solidFill>
              <a:srgbClr val="A267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39912" y="4416552"/>
            <a:ext cx="2855671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53D4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These metrics are on a curated synthetic dataset the rules were tuned against. They demonstrate correctness of the pipeline — not real-world generalization.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4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F6F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REFLECTION &amp; 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deterministic, provenance-first system can deliver the whole value chain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423818" cy="1783080"/>
          </a:xfrm>
          <a:prstGeom prst="roundRect">
            <a:avLst>
              <a:gd name="adj" fmla="val 4103"/>
            </a:avLst>
          </a:prstGeom>
          <a:solidFill>
            <a:srgbClr val="0F5A51"/>
          </a:solidFill>
          <a:ln w="12700">
            <a:solidFill>
              <a:srgbClr val="156B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551176"/>
            <a:ext cx="29117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it demonstrates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3044952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4E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Capture → extraction → analytics → summary, auditable end to end, with a source span on every signal.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3938" y="2331720"/>
            <a:ext cx="3423818" cy="1783080"/>
          </a:xfrm>
          <a:prstGeom prst="roundRect">
            <a:avLst>
              <a:gd name="adj" fmla="val 4103"/>
            </a:avLst>
          </a:prstGeom>
          <a:solidFill>
            <a:srgbClr val="0F5A51"/>
          </a:solidFill>
          <a:ln w="12700">
            <a:solidFill>
              <a:srgbClr val="156B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9970" y="2551176"/>
            <a:ext cx="29117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trade-off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39970" y="3044952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4E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Rule-based methods are transparent and cheap but bounded in coverage; neural methods add recall at the cost of auditability.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27797" y="2331720"/>
            <a:ext cx="3423818" cy="1783080"/>
          </a:xfrm>
          <a:prstGeom prst="roundRect">
            <a:avLst>
              <a:gd name="adj" fmla="val 4103"/>
            </a:avLst>
          </a:prstGeom>
          <a:solidFill>
            <a:srgbClr val="0F5A51"/>
          </a:solidFill>
          <a:ln w="12700">
            <a:solidFill>
              <a:srgbClr val="156B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3829" y="2551176"/>
            <a:ext cx="29117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83829" y="3044952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E4E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Local sentence embeddings + MMR for semantic evidence; hybrid neural recall behind the same interfaces; OCR intake.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093F39"/>
          </a:solidFill>
          <a:ln w="12700">
            <a:solidFill>
              <a:srgbClr val="156B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99432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0B96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SAFETY BOUNDARIES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diagnosis · no treatment or medication advice · no emergency triage. 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CE8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Hedged language (“reported”, “overlapped with”, “may be useful to discuss”). Synthetic data only. No external model or API calls.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C4BD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Shubham Pareek — Columbia University   ·   Intern Assessment · Topic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VisitPrep — A Clinical Natural Language Technology Proof of Concept</dc:title>
  <dc:subject>PptxGenJS Presentation</dc:subject>
  <dc:creator>Shubham Pareek</dc:creator>
  <cp:lastModifiedBy>Shubham Pareek</cp:lastModifiedBy>
  <cp:revision>1</cp:revision>
  <dcterms:created xsi:type="dcterms:W3CDTF">2026-07-13T21:55:45Z</dcterms:created>
  <dcterms:modified xsi:type="dcterms:W3CDTF">2026-07-13T21:55:45Z</dcterms:modified>
</cp:coreProperties>
</file>