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28A7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9F6F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CLINICAL NATURAL LANGUAGE TECHNOLOGY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</a:t>
            </a:r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D7EC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 —  Clinical Natural Language Technology for Health Care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9F6F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Past, Present &amp; Future  ·  NLP · OCR · Computer Vision · LLM · LMM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4754880" cy="0"/>
          </a:xfrm>
          <a:prstGeom prst="line">
            <a:avLst/>
          </a:prstGeom>
          <a:noFill/>
          <a:ln w="19050">
            <a:solidFill>
              <a:srgbClr val="128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709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Shubham Pareek</a:t>
            </a:r>
            <a:pPr algn="l" indent="0" marL="0">
              <a:buNone/>
            </a:pPr>
            <a:r>
              <a:rPr lang="en-US" sz="1600" dirty="0">
                <a:solidFill>
                  <a:srgbClr val="CFE4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 —  Columbia University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1389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0197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Cotiviti</a:t>
            </a:r>
            <a:pPr algn="l" indent="0" marL="0">
              <a:buNone/>
            </a:pPr>
            <a:r>
              <a:rPr lang="en-US" sz="1350" dirty="0">
                <a:solidFill>
                  <a:srgbClr val="B9D6D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Intern Assessment  ·  Topic 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EC4B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Local, source-grounded, provenance-first proof of concept  ·  synthetic data only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Most clinical data is unstructured 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 · Clinical NLP for Health Care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E9F6F3"/>
          </a:solidFill>
          <a:ln w="12700">
            <a:solidFill>
              <a:srgbClr val="E9F6F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774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~80%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960120" y="37033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 clinical data is unstructured — physician notes, patient narratives, discharge summaries, scanned documents and images with text.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5212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28A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~half of provider–payer exchange still moves as fax / PDF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57800" y="1920240"/>
            <a:ext cx="6309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20665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Providers &amp; payers drown in documents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40680" y="2468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Notes, faxes and PDFs pile up faster than teams can read them by hand.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57800" y="3337560"/>
            <a:ext cx="6309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34838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Structured claims miss the story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40680" y="38862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Diagnoses, symptoms and quality evidence live in the free text, not the coded fields.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57800" y="4754880"/>
            <a:ext cx="6309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0680" y="49011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Manual review does not scale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40680" y="5303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Reading records at claims scale is slow, costly and inconsistent.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57800" y="5806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A49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Clinical NLP is how healthcare converts that unstructured text into decisions, payments and quality measures.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CLINICAL NLP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Five capability layers, text to computable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 · Clinical NLP for Health Care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2021373" cy="3566160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rgbClr val="0E746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1655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NLP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165561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Parse free text into concepts, assertions (present / absent / uncertain) and relations. The foundation.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62621" y="2057400"/>
            <a:ext cx="2021373" cy="3566160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91221" y="2331720"/>
            <a:ext cx="457200" cy="457200"/>
          </a:xfrm>
          <a:prstGeom prst="ellipse">
            <a:avLst/>
          </a:prstGeom>
          <a:solidFill>
            <a:srgbClr val="0E7466"/>
          </a:solidFill>
          <a:ln/>
        </p:spPr>
      </p:sp>
      <p:sp>
        <p:nvSpPr>
          <p:cNvPr id="14" name="Text 12"/>
          <p:cNvSpPr/>
          <p:nvPr/>
        </p:nvSpPr>
        <p:spPr>
          <a:xfrm>
            <a:off x="3091221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45501" y="2926080"/>
            <a:ext cx="1655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OCR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45501" y="3657600"/>
            <a:ext cx="165561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Convert scanned faxes, PDFs and handwritten or printed documents into machine-readable text.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85161" y="2057400"/>
            <a:ext cx="2021373" cy="3566160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13761" y="2331720"/>
            <a:ext cx="457200" cy="457200"/>
          </a:xfrm>
          <a:prstGeom prst="ellipse">
            <a:avLst/>
          </a:prstGeom>
          <a:solidFill>
            <a:srgbClr val="0E7466"/>
          </a:solidFill>
          <a:ln/>
        </p:spPr>
      </p:sp>
      <p:sp>
        <p:nvSpPr>
          <p:cNvPr id="19" name="Text 17"/>
          <p:cNvSpPr/>
          <p:nvPr/>
        </p:nvSpPr>
        <p:spPr>
          <a:xfrm>
            <a:off x="5313761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68041" y="2926080"/>
            <a:ext cx="1655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68041" y="3657600"/>
            <a:ext cx="165561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Extract signal from medical images and document layout — tables, fields, stamps, signatures.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07702" y="2057400"/>
            <a:ext cx="2021373" cy="3566160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36302" y="2331720"/>
            <a:ext cx="457200" cy="457200"/>
          </a:xfrm>
          <a:prstGeom prst="ellipse">
            <a:avLst/>
          </a:prstGeom>
          <a:solidFill>
            <a:srgbClr val="0E7466"/>
          </a:solidFill>
          <a:ln/>
        </p:spPr>
      </p:sp>
      <p:sp>
        <p:nvSpPr>
          <p:cNvPr id="24" name="Text 22"/>
          <p:cNvSpPr/>
          <p:nvPr/>
        </p:nvSpPr>
        <p:spPr>
          <a:xfrm>
            <a:off x="753630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0582" y="2926080"/>
            <a:ext cx="1655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LLM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90582" y="3657600"/>
            <a:ext cx="165561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Transformer models (BERT → GPT-4 class) that summarize, abstract and reason with less task engineering.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530243" y="2057400"/>
            <a:ext cx="2021373" cy="3566160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758843" y="2331720"/>
            <a:ext cx="457200" cy="457200"/>
          </a:xfrm>
          <a:prstGeom prst="ellipse">
            <a:avLst/>
          </a:prstGeom>
          <a:solidFill>
            <a:srgbClr val="0E7466"/>
          </a:solidFill>
          <a:ln/>
        </p:spPr>
      </p:sp>
      <p:sp>
        <p:nvSpPr>
          <p:cNvPr id="29" name="Text 27"/>
          <p:cNvSpPr/>
          <p:nvPr/>
        </p:nvSpPr>
        <p:spPr>
          <a:xfrm>
            <a:off x="9758843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13123" y="2926080"/>
            <a:ext cx="1655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LMM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13123" y="3657600"/>
            <a:ext cx="165561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Large multimodal models reasoning jointly over text + images + structured data — the research frontier.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A49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Clinical NLP turns the ~80% of clinical data that is unstructured text into decisions, payments and quality measures.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ARC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Past → Present → Future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 · Clinical NLP for Health Care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423818" cy="3977640"/>
          </a:xfrm>
          <a:prstGeom prst="roundRect">
            <a:avLst>
              <a:gd name="adj" fmla="val 2137"/>
            </a:avLst>
          </a:prstGeom>
          <a:solidFill>
            <a:srgbClr val="EEF1F2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267712"/>
            <a:ext cx="2911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PAST · ~2000–2015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633472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Rule-based &amp; statistical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4290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UMLS dictionary / ontology lookup — MetaMap, cTAKES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Hand-built rules, regex, negation (NegEx), assertions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Shared tasks: i2b2 / n2c2 challenges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521208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Transparent, auditable, cheap — but brittle to phrasing.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3938" y="2011680"/>
            <a:ext cx="3423818" cy="3977640"/>
          </a:xfrm>
          <a:prstGeom prst="roundRect">
            <a:avLst>
              <a:gd name="adj" fmla="val 2137"/>
            </a:avLst>
          </a:prstGeom>
          <a:solidFill>
            <a:srgbClr val="E9F6F3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39970" y="2267712"/>
            <a:ext cx="2911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 · ~2018–now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9970" y="2633472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Transformer era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39970" y="34290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BERT → BioBERT, ClinicalBERT (on MIMIC-III)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Generative LLMs; Med-PaLM passes medical QA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Vision: CheXNet; document AI fuses OCR + layout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39970" y="521208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State-of-the-art — but hallucination, opacity, PHI risk.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27797" y="2011680"/>
            <a:ext cx="3423818" cy="397764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83829" y="2267712"/>
            <a:ext cx="2911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8A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83829" y="2633472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Multimodal, agentic, governed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3829" y="34290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LMMs over notes + images + labs + claims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Retrieval-grounded / agentic pipelines that cite spans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Hybrid deterministic + neural, governance-first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83829" y="521208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Neural recall with deterministic guardrails.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82186" y="37261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26045" y="37261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TRENDS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Where clinical NLP is heading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 · Clinical NLP for Health Care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185416"/>
            <a:ext cx="566928" cy="566928"/>
          </a:xfrm>
          <a:prstGeom prst="ellipse">
            <a:avLst/>
          </a:prstGeom>
          <a:solidFill>
            <a:srgbClr val="E9F6F3"/>
          </a:solidFill>
          <a:ln w="12700">
            <a:solidFill>
              <a:srgbClr val="0E7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85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1122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From extraction to generation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47802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Value shifts from tagging concepts to summarizing and drafting — ambient scribes, prior-auth letters, appeal narratives.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0528" y="2185416"/>
            <a:ext cx="566928" cy="566928"/>
          </a:xfrm>
          <a:prstGeom prst="ellipse">
            <a:avLst/>
          </a:prstGeom>
          <a:solidFill>
            <a:srgbClr val="E9F6F3"/>
          </a:solidFill>
          <a:ln w="12700">
            <a:solidFill>
              <a:srgbClr val="0E7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185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69480" y="21122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Multimodal + document AI converge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9480" y="247802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OCR + CV + NLP merge into one document-understanding stack for the fax / PDF reality of payer operations.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0098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3520440"/>
            <a:ext cx="566928" cy="566928"/>
          </a:xfrm>
          <a:prstGeom prst="ellipse">
            <a:avLst/>
          </a:prstGeom>
          <a:solidFill>
            <a:srgbClr val="E9F6F3"/>
          </a:solidFill>
          <a:ln w="12700">
            <a:solidFill>
              <a:srgbClr val="0E7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0200" y="3447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Grounding &amp; provenance are required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0200" y="38130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Regulators, clinicians and auditors demand source-linked evidence; ungrounded generation is a liability.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30098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10528" y="3520440"/>
            <a:ext cx="566928" cy="566928"/>
          </a:xfrm>
          <a:prstGeom prst="ellipse">
            <a:avLst/>
          </a:prstGeom>
          <a:solidFill>
            <a:srgbClr val="E9F6F3"/>
          </a:solidFill>
          <a:ln w="12700">
            <a:solidFill>
              <a:srgbClr val="0E74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69480" y="3447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Hybrid architectures win in regulated settings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69480" y="38130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Deterministic guardrails wrap neural models to keep outputs auditable and safe.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636008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1248" y="4855464"/>
            <a:ext cx="566928" cy="566928"/>
          </a:xfrm>
          <a:prstGeom prst="ellipse">
            <a:avLst/>
          </a:prstGeom>
          <a:solidFill>
            <a:srgbClr val="E9F6F3"/>
          </a:solidFill>
          <a:ln w="12700">
            <a:solidFill>
              <a:srgbClr val="0E74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600200" y="4782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Privacy-preserving / on-prem deployment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00200" y="514807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De-identification, local models and data-residency controls become table stakes for PHI.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 COTIVITI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Opportunities &amp; threats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 · Clinical NLP for Health Care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E9F6F3"/>
          </a:solidFill>
          <a:ln w="12700">
            <a:solidFill>
              <a:srgbClr val="E9F6F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24328"/>
            <a:ext cx="4800600" cy="0"/>
          </a:xfrm>
          <a:prstGeom prst="line">
            <a:avLst/>
          </a:prstGeom>
          <a:noFill/>
          <a:ln w="12700">
            <a:solidFill>
              <a:srgbClr val="0E7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3464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Risk-adjustment coding (HCC): surface supported / unsupported diagnosis codes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integrity &amp; clinical validation: validate claims against documentation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Quality measurement (HEDIS-style): extract evidence structured claims miss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Grounded summarization of policy, contracts and appeals for providers &amp; members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Document AI for the fax / PDF backlog: OCR + layout to structure records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9659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D2C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THREATS / RISKS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2624328"/>
            <a:ext cx="4800600" cy="0"/>
          </a:xfrm>
          <a:prstGeom prst="line">
            <a:avLst/>
          </a:prstGeom>
          <a:noFill/>
          <a:ln w="12700">
            <a:solidFill>
              <a:srgbClr val="AD2C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83464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Hallucination &amp; fabricated evidence → compliance and audit exposure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PHI / privacy &amp; regulatory risk (HIPAA de-id, 21st Century Cures)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Auditability gap: black-box models hard to defend in disputes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drift &amp; bias: models degrade across populations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Vendor / compute cost &amp; lock-in for frontier LLMs at claims scale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STRATEGIC OPTIONS FOR COTIVITI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Three tiers of investment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 · Clinical NLP for Health Care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454298" cy="3657600"/>
          </a:xfrm>
          <a:prstGeom prst="roundRect">
            <a:avLst>
              <a:gd name="adj" fmla="val 2118"/>
            </a:avLst>
          </a:prstGeom>
          <a:solidFill>
            <a:srgbClr val="E9F6F3"/>
          </a:solidFill>
          <a:ln w="12700">
            <a:solidFill>
              <a:srgbClr val="0E7466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203704"/>
            <a:ext cx="2942234" cy="329184"/>
          </a:xfrm>
          <a:prstGeom prst="roundRect">
            <a:avLst>
              <a:gd name="adj" fmla="val 16667"/>
            </a:avLst>
          </a:prstGeom>
          <a:solidFill>
            <a:srgbClr val="0E7466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203704"/>
            <a:ext cx="29422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OPTION A · RECOMMENDED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62432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Hybrid, provenance-first extraction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335584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Low risk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29056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Deterministic rule / dictionary layer for auditable structured signals + optional local neural recall. Every output carries a visible source span. Directly applicable to risk adjustment and clinical validation.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is what the POC demonstrates.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68698" y="1965960"/>
            <a:ext cx="3454298" cy="36576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3018" y="2221992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8A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OPTION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3018" y="262432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Grounded summarization &amp; drafting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643018" y="335584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28A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Medium risk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3018" y="3703320"/>
            <a:ext cx="29056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Retrieval-grounded LLM assistance for appeal letters, clinical review narratives and policy comparison — always source-linked and human-approved.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43018" y="507492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28A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Layer in where human review already exists.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7317" y="1965960"/>
            <a:ext cx="3454298" cy="36576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71637" y="2221992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748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OPTION 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71637" y="262432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Multimodal document AI platform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371637" y="335584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A748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Higher investment · strategic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71637" y="3703320"/>
            <a:ext cx="29056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Unify OCR + CV + NLP to structure the inbound fax / PDF / record stream feeding all downstream analytics.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71637" y="507492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A748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Treat as the platform bet.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49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Recommendation: 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start at Option A (fast, auditable, defensible), layer B where human review exists, treat C as the platform bet. Governance — de-identification, provenance, eval harness, human-in-the-loop — is a horizontal requirement across all three.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PROOF OF CONCEPT · VISITPREP HEALTH JOURNAL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clinical-NLP value chain,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 · Clinical NLP for Health Care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local Next.js / TypeScript app: a patient on GLP-1 / weight-loss injections logs daily side-effect notes and wearable-style metrics; VisitPrep prepares a source-grounded pre-visit summary for the clinician.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235069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55848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Unstructured</a:t>
            </a:r>
            <a:endParaRPr lang="en-US" sz="1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patient note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4087368"/>
            <a:ext cx="19849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Free-text daily journal + wearable metrics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09062" y="3474720"/>
            <a:ext cx="46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493694" y="2788920"/>
            <a:ext cx="235069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76574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76574" y="3355848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Structured</a:t>
            </a:r>
            <a:endParaRPr lang="en-US" sz="1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symptom signals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676574" y="4087368"/>
            <a:ext cx="19849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Concepts, assertion, severity, evidence spans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62676" y="3474720"/>
            <a:ext cx="46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47308" y="2788920"/>
            <a:ext cx="235069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0188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0188" y="3355848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Trend</a:t>
            </a:r>
            <a:endParaRPr lang="en-US" sz="1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analytics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530188" y="4087368"/>
            <a:ext cx="19849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Frequency, category mix, injection-adjacent trends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16289" y="3474720"/>
            <a:ext cx="46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200921" y="2788920"/>
            <a:ext cx="2350694" cy="1920240"/>
          </a:xfrm>
          <a:prstGeom prst="roundRect">
            <a:avLst>
              <a:gd name="adj" fmla="val 3810"/>
            </a:avLst>
          </a:prstGeom>
          <a:solidFill>
            <a:srgbClr val="0E7466"/>
          </a:solidFill>
          <a:ln w="12700">
            <a:solidFill>
              <a:srgbClr val="0E7466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83801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E9E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83801" y="3355848"/>
            <a:ext cx="19849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Doctor-ready</a:t>
            </a:r>
            <a:endParaRPr lang="en-US" sz="1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summary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383801" y="4087368"/>
            <a:ext cx="19849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0F2E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Source-grounded, hedged, with safety disclaimer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21208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5F7F7"/>
          </a:solidFill>
          <a:ln w="12700">
            <a:solidFill>
              <a:srgbClr val="DCE1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321808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A49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Auditable by design.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NLP extraction stays separate from presentation; every signal maps back to the exact source text. Reports are built from computed data — never from live UI state.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POC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Four layers — auditable NLP separated from 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 · Clinical NLP for Health Care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911535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1396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A4942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typed · synthetic · no PHI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2240" y="2048256"/>
            <a:ext cx="4876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Typed JournalEntry + WearableMetrics; mock / synthetic JSON (no PHI). Wearable data kept separate from journal text.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980944"/>
            <a:ext cx="10911535" cy="932688"/>
          </a:xfrm>
          <a:prstGeom prst="roundRect">
            <a:avLst>
              <a:gd name="adj" fmla="val 7843"/>
            </a:avLst>
          </a:prstGeom>
          <a:solidFill>
            <a:srgbClr val="E9F6F3"/>
          </a:solidFill>
          <a:ln w="12700">
            <a:solidFill>
              <a:srgbClr val="0E7466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E7466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0998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49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NLP extraction layer  ·  src/lib/nlp/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4838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extractionMethod: "rule-based" — interface allows semantic-local / hybrid later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4876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Deterministic, rule-based, auditable: 14 symptoms / 7 categories; assertion (present · absent · uncertain · resolved); severity; temporal + injection context; evidence span + confidence on every signal.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41648"/>
            <a:ext cx="10911535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2611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A494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Analytics layer  ·  src/lib/analytics/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544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deterministic analytics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0" y="4169664"/>
            <a:ext cx="4876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Symptom frequency, top symptoms, category mix, severity distribution, injection-adjacent analysis, wearable trends (weight, sleep, steps, RHR, activity).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102352"/>
            <a:ext cx="10911535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53218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A4942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54480" y="5221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Report layer  ·  src/lib/report/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54480" y="5605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built from computed data, never live UI state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0" y="5230368"/>
            <a:ext cx="4876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Deterministic template summary: snapshot, medication context, symptom &amp; wearable highlights, evidence notes with source text, discussion prompts, safety disclaimer.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1722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49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Hybrid-ready, provenance-first.  </a:t>
            </a:r>
            <a:pPr indent="0" marL="0">
              <a:buNone/>
            </a:pPr>
            <a:r>
              <a:rPr lang="en-US" sz="12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Neural methods can be layered in behind the same interfaces without losing the audit trail.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POC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note → structured, source-grounded signal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 · Clinical NLP for Health Care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5F7F7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PATIENT NOTE  (input)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578608"/>
            <a:ext cx="4572000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432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“Took my injection Tuesday morning. By evening I had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A4942"/>
                </a:solidFill>
                <a:highlight>
                  <a:srgbClr val="E9F6F3"/>
                </a:highlight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moderate nausea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felt pretty wiped out.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A4942"/>
                </a:solidFill>
                <a:highlight>
                  <a:srgbClr val="E9F6F3"/>
                </a:highlight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vomiting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since breakfast, but I did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A4942"/>
                </a:solidFill>
                <a:highlight>
                  <a:srgbClr val="E9F6F3"/>
                </a:highlight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vomit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after lunch.”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49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Clause-aware negation.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“No vomiting … but I vomited after lunch” is correctly read as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the negation stops at “but.”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446520" y="1965960"/>
            <a:ext cx="5105095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2194560"/>
            <a:ext cx="4556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EXTRACTED SIGNAL  (output)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20840" y="2578608"/>
            <a:ext cx="4556455" cy="0"/>
          </a:xfrm>
          <a:prstGeom prst="line">
            <a:avLst/>
          </a:prstGeom>
          <a:noFill/>
          <a:ln w="12700">
            <a:solidFill>
              <a:srgbClr val="0E74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78892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Symptom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2788920"/>
            <a:ext cx="259049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Nausea  (category: GI)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02552" y="3200400"/>
            <a:ext cx="4593031" cy="429768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218688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Assertion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218688"/>
            <a:ext cx="259049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12280" y="3648456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Severity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3648456"/>
            <a:ext cx="259049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moderate  (phrase-detected)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02552" y="4059936"/>
            <a:ext cx="4593031" cy="429768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07822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Temporal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0" y="4078224"/>
            <a:ext cx="259049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same day as injection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12280" y="450799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Injection context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0" y="4507992"/>
            <a:ext cx="259049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symptom near injection day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02552" y="4919472"/>
            <a:ext cx="4593031" cy="429768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493776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Evidence span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0" y="4937760"/>
            <a:ext cx="259049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49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“moderate nausea”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12280" y="5367528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0" y="5367528"/>
            <a:ext cx="259049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POC RESULTS &amp;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A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Evaluation metrics &amp; NLP hardening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VisitPrep · Clinical NLP for Health Care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666189" cy="1234440"/>
          </a:xfrm>
          <a:prstGeom prst="roundRect">
            <a:avLst>
              <a:gd name="adj" fmla="val 5926"/>
            </a:avLst>
          </a:prstGeom>
          <a:solidFill>
            <a:srgbClr val="E9F6F3"/>
          </a:solidFill>
          <a:ln w="12700">
            <a:solidFill>
              <a:srgbClr val="E9F6F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020824"/>
            <a:ext cx="16661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2715768"/>
            <a:ext cx="1574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9149" y="1874520"/>
            <a:ext cx="1666189" cy="1234440"/>
          </a:xfrm>
          <a:prstGeom prst="roundRect">
            <a:avLst>
              <a:gd name="adj" fmla="val 5926"/>
            </a:avLst>
          </a:prstGeom>
          <a:solidFill>
            <a:srgbClr val="E9F6F3"/>
          </a:solidFill>
          <a:ln w="12700">
            <a:solidFill>
              <a:srgbClr val="E9F6F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9149" y="2020824"/>
            <a:ext cx="16661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34869" y="2715768"/>
            <a:ext cx="1574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8218" y="1874520"/>
            <a:ext cx="1666189" cy="1234440"/>
          </a:xfrm>
          <a:prstGeom prst="roundRect">
            <a:avLst>
              <a:gd name="adj" fmla="val 5926"/>
            </a:avLst>
          </a:prstGeom>
          <a:solidFill>
            <a:srgbClr val="E9F6F3"/>
          </a:solidFill>
          <a:ln w="12700">
            <a:solidFill>
              <a:srgbClr val="E9F6F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38218" y="2020824"/>
            <a:ext cx="16661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383938" y="2715768"/>
            <a:ext cx="1574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7288" y="1874520"/>
            <a:ext cx="1666189" cy="1234440"/>
          </a:xfrm>
          <a:prstGeom prst="roundRect">
            <a:avLst>
              <a:gd name="adj" fmla="val 5926"/>
            </a:avLst>
          </a:prstGeom>
          <a:solidFill>
            <a:srgbClr val="E9F6F3"/>
          </a:solidFill>
          <a:ln w="12700">
            <a:solidFill>
              <a:srgbClr val="E9F6F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7288" y="2020824"/>
            <a:ext cx="16661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0.94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33008" y="2715768"/>
            <a:ext cx="1574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Severity acc.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36357" y="1874520"/>
            <a:ext cx="1666189" cy="1234440"/>
          </a:xfrm>
          <a:prstGeom prst="roundRect">
            <a:avLst>
              <a:gd name="adj" fmla="val 5926"/>
            </a:avLst>
          </a:prstGeom>
          <a:solidFill>
            <a:srgbClr val="E9F6F3"/>
          </a:solidFill>
          <a:ln w="12700">
            <a:solidFill>
              <a:srgbClr val="E9F6F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36357" y="2020824"/>
            <a:ext cx="16661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1.00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082077" y="2715768"/>
            <a:ext cx="1574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Evidence span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85426" y="1874520"/>
            <a:ext cx="1666189" cy="1234440"/>
          </a:xfrm>
          <a:prstGeom prst="roundRect">
            <a:avLst>
              <a:gd name="adj" fmla="val 5926"/>
            </a:avLst>
          </a:prstGeom>
          <a:solidFill>
            <a:srgbClr val="E9F6F3"/>
          </a:solidFill>
          <a:ln w="12700">
            <a:solidFill>
              <a:srgbClr val="E9F6F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85426" y="2020824"/>
            <a:ext cx="16661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931146" y="2715768"/>
            <a:ext cx="15747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Negation FP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1638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757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npm run nlp:evaluate  ·  150 synthetic entries / 156 signals  ·  injection-context accuracy 1.00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703320"/>
            <a:ext cx="72237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9044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NLP ROBUSTNESS HARDENING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270248"/>
            <a:ext cx="6675120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416552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Fixed substring-negation bug — “no”/“not” no longer fire inside words like “normal”/“nothing” (word-boundary matching).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Added negation contractions (“don’t have”, “isn’t”) that were previously missed.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Made negation lookback clause-aware (stops at but / however / , / ;).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Made candidate ranking assertion-aware so a present mention beats an earlier negated one.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Tightened over-broad dictionary aliases that caused false positives.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83880" y="3703320"/>
            <a:ext cx="3367735" cy="2423160"/>
          </a:xfrm>
          <a:prstGeom prst="roundRect">
            <a:avLst>
              <a:gd name="adj" fmla="val 3019"/>
            </a:avLst>
          </a:prstGeom>
          <a:solidFill>
            <a:srgbClr val="FDF4E4"/>
          </a:solidFill>
          <a:ln w="12700">
            <a:solidFill>
              <a:srgbClr val="FDF4E4"/>
            </a:solidFill>
            <a:prstDash val="solid"/>
          </a:ln>
          <a:effectLst>
            <a:outerShdw sx="100000" sy="100000" kx="0" ky="0" algn="bl" rotWithShape="0" blurRad="88900" dist="38100" dir="5400000">
              <a:srgbClr val="9aa5aa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39912" y="3904488"/>
            <a:ext cx="28556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2670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HONESTY CAVEAT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39912" y="4270248"/>
            <a:ext cx="2855671" cy="0"/>
          </a:xfrm>
          <a:prstGeom prst="line">
            <a:avLst/>
          </a:prstGeom>
          <a:noFill/>
          <a:ln w="12700">
            <a:solidFill>
              <a:srgbClr val="A267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9912" y="4416552"/>
            <a:ext cx="285567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53D4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These metrics are on a curated synthetic dataset the rules were tuned against. They demonstrate correctness of the pipeline — not real-world generalization.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4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F6F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WHY IT MATTERS TO COTIVITI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Hybrid, provenance-first NLP is auditable, defensible, and applicable today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23818" cy="1691640"/>
          </a:xfrm>
          <a:prstGeom prst="roundRect">
            <a:avLst>
              <a:gd name="adj" fmla="val 4324"/>
            </a:avLst>
          </a:prstGeom>
          <a:solidFill>
            <a:srgbClr val="0F5A51"/>
          </a:solidFill>
          <a:ln w="12700">
            <a:solidFill>
              <a:srgbClr val="156B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551176"/>
            <a:ext cx="2911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Risk adjustment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017520"/>
            <a:ext cx="29117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4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Surface supported / unsupported diagnosis codes with a visible source span for every finding.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3938" y="2331720"/>
            <a:ext cx="3423818" cy="1691640"/>
          </a:xfrm>
          <a:prstGeom prst="roundRect">
            <a:avLst>
              <a:gd name="adj" fmla="val 4324"/>
            </a:avLst>
          </a:prstGeom>
          <a:solidFill>
            <a:srgbClr val="0F5A51"/>
          </a:solidFill>
          <a:ln w="12700">
            <a:solidFill>
              <a:srgbClr val="156B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9970" y="2551176"/>
            <a:ext cx="2911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integrity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39970" y="3017520"/>
            <a:ext cx="29117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4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 claims against documentation at scale; triage clinical review with auditable evidence.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7797" y="2331720"/>
            <a:ext cx="3423818" cy="1691640"/>
          </a:xfrm>
          <a:prstGeom prst="roundRect">
            <a:avLst>
              <a:gd name="adj" fmla="val 4324"/>
            </a:avLst>
          </a:prstGeom>
          <a:solidFill>
            <a:srgbClr val="0F5A51"/>
          </a:solidFill>
          <a:ln w="12700">
            <a:solidFill>
              <a:srgbClr val="156B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3829" y="2551176"/>
            <a:ext cx="2911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Quality measurement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83829" y="3017520"/>
            <a:ext cx="29117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4E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Extract numerator / denominator evidence from notes that structured claims miss.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093F39"/>
          </a:solidFill>
          <a:ln w="12700">
            <a:solidFill>
              <a:srgbClr val="156B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526280"/>
            <a:ext cx="10271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B96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SAFETY BOUNDARIES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48920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diagnosis · no treatment or medication advice · no emergency triage. 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C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Hedged language (“reported”, “overlapped with”, “may be useful to discuss”). Synthetic data only. No external LLM calls in the MVP.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Start at Option A.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D6D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Auditable structured signals with a source span on every output — the pattern regulated healthcare needs, with neural methods layerable behind the same interfaces.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5105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4B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Shubham Pareek — Columbia University   ·   </a:t>
            </a:r>
            <a:pPr indent="0" marL="0">
              <a:buNone/>
            </a:pPr>
            <a:r>
              <a:rPr lang="en-US" sz="1000" b="1" dirty="0">
                <a:solidFill>
                  <a:srgbClr val="B0197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Cotiviti</a:t>
            </a:r>
            <a:pPr indent="0" marL="0">
              <a:buNone/>
            </a:pPr>
            <a:r>
              <a:rPr lang="en-US" sz="1000" dirty="0">
                <a:solidFill>
                  <a:srgbClr val="9EC4B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Intern Assessment · Topic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VisitPrep — Clinical Natural Language Technology for Health Care</dc:title>
  <dc:subject>PptxGenJS Presentation</dc:subject>
  <dc:creator>Shubham Pareek</dc:creator>
  <cp:lastModifiedBy>Shubham Pareek</cp:lastModifiedBy>
  <cp:revision>1</cp:revision>
  <dcterms:created xsi:type="dcterms:W3CDTF">2026-07-06T18:43:46Z</dcterms:created>
  <dcterms:modified xsi:type="dcterms:W3CDTF">2026-07-06T18:43:46Z</dcterms:modified>
</cp:coreProperties>
</file>